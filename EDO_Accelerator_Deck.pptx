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224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Data Observability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B6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Accelerator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Fabric-native framework that monitors, validates, scores,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governs enterprise data pipelines through AI-assisted observability intelligence.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Microsoft Fabric  +  Azure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- May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457200"/>
            <a:ext cx="1463040" cy="438912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0" y="731520"/>
            <a:ext cx="1097280" cy="3840480"/>
          </a:xfrm>
          <a:prstGeom prst="rect">
            <a:avLst/>
          </a:prstGeom>
          <a:solidFill>
            <a:srgbClr val="6B4FA0">
              <a:alpha val="20000"/>
            </a:srgbClr>
          </a:solidFill>
          <a:ln w="12700">
            <a:solidFill>
              <a:srgbClr val="8B6F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Enterprise Pain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Broken pipelines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45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with no alerting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Failed refreshes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reaches dashboards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044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Data quality degradation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corruption goes undetected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38862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KPI inconsistencies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88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metric, different numbers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1430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Schema drift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545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fields change without notice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0574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7720" y="20574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130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Duplicate records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counts, wrong aggregations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9718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17720" y="29718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3044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 Low trust in analytics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stop believing their reports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88620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17720" y="3886200"/>
            <a:ext cx="54864" cy="749808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Delayed issue detection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4288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or days to spot problems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Are Building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6B4FA0">
              <a:alpha val="80000"/>
            </a:srgbClr>
          </a:solidFill>
          <a:ln w="1270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Fabric-native framework that monitors, validates, scores, and governs enterprise data pipelines through AI-assisted observability intelligence.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0"/>
            <a:ext cx="1965960" cy="2468880"/>
          </a:xfrm>
          <a:prstGeom prst="rect">
            <a:avLst/>
          </a:prstGeom>
          <a:solidFill>
            <a:srgbClr val="0D7B6A">
              <a:alpha val="85000"/>
            </a:srgbClr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1965960" cy="411480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1783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pipeline health,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status &amp; KPI trends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194560"/>
            <a:ext cx="1965960" cy="2468880"/>
          </a:xfrm>
          <a:prstGeom prst="rect">
            <a:avLst/>
          </a:prstGeom>
          <a:solidFill>
            <a:srgbClr val="D4830A">
              <a:alpha val="85000"/>
            </a:srgbClr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2194560"/>
            <a:ext cx="1965960" cy="41148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1783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nulls, duplicates,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record integrity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194560"/>
            <a:ext cx="1965960" cy="2468880"/>
          </a:xfrm>
          <a:prstGeom prst="rect">
            <a:avLst/>
          </a:prstGeom>
          <a:solidFill>
            <a:srgbClr val="6B4FA0">
              <a:alpha val="85000"/>
            </a:srgbClr>
          </a:solidFill>
          <a:ln w="12700">
            <a:solidFill>
              <a:srgbClr val="6B4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17720" y="2194560"/>
            <a:ext cx="1965960" cy="41148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1772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2697480"/>
            <a:ext cx="1783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severity: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Healthy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2194560"/>
            <a:ext cx="1965960" cy="2468880"/>
          </a:xfrm>
          <a:prstGeom prst="rect">
            <a:avLst/>
          </a:prstGeom>
          <a:solidFill>
            <a:srgbClr val="C94F2E">
              <a:alpha val="85000"/>
            </a:srgbClr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66560" y="2194560"/>
            <a:ext cx="1965960" cy="411480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697480"/>
            <a:ext cx="1783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rules,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for any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6583680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7957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ERP · Files · APIs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20440" y="1344168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6583680" cy="384048"/>
          </a:xfrm>
          <a:prstGeom prst="rect">
            <a:avLst/>
          </a:prstGeom>
          <a:solidFill>
            <a:srgbClr val="EBF2FC"/>
          </a:solidFill>
          <a:ln w="12700">
            <a:solidFill>
              <a:srgbClr val="1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ingestion pipelines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· Orchestration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1847088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6583680" cy="384048"/>
          </a:xfrm>
          <a:prstGeom prst="rect">
            <a:avLst/>
          </a:prstGeom>
          <a:solidFill>
            <a:srgbClr val="FFF8E6"/>
          </a:solidFill>
          <a:ln w="1270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landing zone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18541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Immutable · Delta Lake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2350008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658368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496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transformation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68833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· Duplicates · Schema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2852928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6583680" cy="438912"/>
          </a:xfrm>
          <a:prstGeom prst="rect">
            <a:avLst/>
          </a:prstGeom>
          <a:solidFill>
            <a:srgbClr val="F0ECF8"/>
          </a:solidFill>
          <a:ln w="25400">
            <a:solidFill>
              <a:srgbClr val="4A2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AI observability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19125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Severity Scoring · Drift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410712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6583680" cy="384048"/>
          </a:xfrm>
          <a:prstGeom prst="rect">
            <a:avLst/>
          </a:prstGeom>
          <a:solidFill>
            <a:srgbClr val="E6F5F0"/>
          </a:solidFill>
          <a:ln w="12700">
            <a:solidFill>
              <a:srgbClr val="0A5C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trusted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69417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· Scored · AI-enriched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20440" y="3858768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3977640"/>
            <a:ext cx="6583680" cy="384048"/>
          </a:xfrm>
          <a:prstGeom prst="rect">
            <a:avLst/>
          </a:prstGeom>
          <a:solidFill>
            <a:srgbClr val="EAF5EE"/>
          </a:solidFill>
          <a:ln w="12700">
            <a:solidFill>
              <a:srgbClr val="1A5C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monitoring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19709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· Issue Trends · Governance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0440" y="4361688"/>
            <a:ext cx="0" cy="11887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0040" y="4480560"/>
            <a:ext cx="6583680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2920" y="4507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layer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70001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(optional) · APIs · Alerts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Accelerator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deployable and configurable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828800"/>
          </a:xfrm>
          <a:prstGeom prst="rect">
            <a:avLst/>
          </a:prstGeom>
          <a:solidFill>
            <a:srgbClr val="EBF2FC"/>
          </a:solidFill>
          <a:ln w="12700">
            <a:solidFill>
              <a:srgbClr val="1A3F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Ingestion layer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CSV / API / ERP / Streaming sources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pipeline orchestration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591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OneLake integration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FDECEA"/>
          </a:solidFill>
          <a:ln w="12700">
            <a:solidFill>
              <a:srgbClr val="C94F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C94F2E"/>
          </a:solidFill>
          <a:ln w="12700">
            <a:solidFill>
              <a:srgbClr val="C9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005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Validation engine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Null &amp; duplicate checks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9568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mismatch detection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3591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Invalid record flagging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1828800"/>
          </a:xfrm>
          <a:prstGeom prst="rect">
            <a:avLst/>
          </a:prstGeom>
          <a:solidFill>
            <a:srgbClr val="F0ECF8"/>
          </a:solidFill>
          <a:ln w="12700">
            <a:solidFill>
              <a:srgbClr val="4A2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63640" y="1005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AI observability 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2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Anomaly detection &amp; drift analysis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19568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2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Severity scoring model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3591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2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health intelligence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719072" y="3017520"/>
            <a:ext cx="2743200" cy="1828800"/>
          </a:xfrm>
          <a:prstGeom prst="rect">
            <a:avLst/>
          </a:prstGeom>
          <a:solidFill>
            <a:srgbClr val="E6F5F0"/>
          </a:solidFill>
          <a:ln w="12700">
            <a:solidFill>
              <a:srgbClr val="0A5C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719072" y="3017520"/>
            <a:ext cx="2743200" cy="457200"/>
          </a:xfrm>
          <a:prstGeom prst="rect">
            <a:avLst/>
          </a:prstGeom>
          <a:solidFill>
            <a:srgbClr val="0A5C4A"/>
          </a:solidFill>
          <a:ln w="12700">
            <a:solidFill>
              <a:srgbClr val="0A5C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810512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Monitoring &amp; governance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856232" y="35661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Quality score tracking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56232" y="396849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Issue trend dashboards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56232" y="4370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Refresh reliability metrics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90872" y="3017520"/>
            <a:ext cx="2743200" cy="1828800"/>
          </a:xfrm>
          <a:prstGeom prst="rect">
            <a:avLst/>
          </a:prstGeom>
          <a:solidFill>
            <a:srgbClr val="EDF2F7"/>
          </a:solidFill>
          <a:ln w="12700">
            <a:solidFill>
              <a:srgbClr val="4A556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90872" y="3017520"/>
            <a:ext cx="2743200" cy="4572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82312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Consumption layer (optional)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28032" y="35661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BI reports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396849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exposure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28032" y="4370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Alerting &amp;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 3 — AI Observability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- where AI turns raw signals into actionable insights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937760" cy="804672"/>
          </a:xfrm>
          <a:prstGeom prst="rect">
            <a:avLst/>
          </a:prstGeom>
          <a:solidFill>
            <a:srgbClr val="1A3F7A"/>
          </a:solidFill>
          <a:ln w="635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80467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null spikes, duplicate growth, unusual KPI deviations using statistical models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937760" cy="804672"/>
          </a:xfrm>
          <a:prstGeom prst="rect">
            <a:avLst/>
          </a:prstGeom>
          <a:solidFill>
            <a:srgbClr val="1A3F7A"/>
          </a:solidFill>
          <a:ln w="635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4864" cy="80467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analysis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schema drift, distribution shift, and data freshness degradation over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937760" cy="804672"/>
          </a:xfrm>
          <a:prstGeom prst="rect">
            <a:avLst/>
          </a:prstGeom>
          <a:solidFill>
            <a:srgbClr val="1A3F7A"/>
          </a:solidFill>
          <a:ln w="635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4864" cy="80467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issue as Critical / High / Medium / Healthy based on multi-factor scoring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937760" cy="804672"/>
          </a:xfrm>
          <a:prstGeom prst="rect">
            <a:avLst/>
          </a:prstGeom>
          <a:solidFill>
            <a:srgbClr val="1A3F7A"/>
          </a:solidFill>
          <a:ln w="635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4864" cy="804672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intelligence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end-to-end pipeline status, impacted datasets, and refresh reliability trends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051560"/>
            <a:ext cx="3200400" cy="3822192"/>
          </a:xfrm>
          <a:prstGeom prst="rect">
            <a:avLst/>
          </a:prstGeom>
          <a:solidFill>
            <a:srgbClr val="1A3F7A"/>
          </a:solidFill>
          <a:ln w="12700">
            <a:solidFill>
              <a:srgbClr val="6B4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15000" y="1572768"/>
            <a:ext cx="2926080" cy="658368"/>
          </a:xfrm>
          <a:prstGeom prst="rect">
            <a:avLst/>
          </a:prstGeom>
          <a:solidFill>
            <a:srgbClr val="7B0000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80644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2350008"/>
            <a:ext cx="2926080" cy="658368"/>
          </a:xfrm>
          <a:prstGeom prst="rect">
            <a:avLst/>
          </a:prstGeom>
          <a:solidFill>
            <a:srgbClr val="7B3A0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806440" y="2404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679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within hours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3127248"/>
            <a:ext cx="2926080" cy="658368"/>
          </a:xfrm>
          <a:prstGeom prst="rect">
            <a:avLst/>
          </a:prstGeom>
          <a:solidFill>
            <a:srgbClr val="7B5900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06440" y="3182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schedule fix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3904488"/>
            <a:ext cx="2926080" cy="658368"/>
          </a:xfrm>
          <a:prstGeom prst="rect">
            <a:avLst/>
          </a:prstGeom>
          <a:solidFill>
            <a:srgbClr val="1A4A2E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0644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46817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issue count · data freshness · null % · failed refreshes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Metadata-Driven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validation_rules config table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2438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8412480" cy="1219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null_check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negative_check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accepted_values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['APAC','EMEA','NA']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freshness_check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duplicate_check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200400"/>
            <a:ext cx="8412480" cy="1508760"/>
          </a:xfrm>
          <a:prstGeom prst="rect">
            <a:avLst/>
          </a:prstGeom>
          <a:solidFill>
            <a:srgbClr val="F0ECF8"/>
          </a:solidFill>
          <a:ln w="12700">
            <a:solidFill>
              <a:srgbClr val="6B4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4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363016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Notebooks dynamically read rules — no hard-coded logic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38862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a new validation without touching the pipeline code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14223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 the same accelerator to any enterprise by changing only the config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39826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rules are auditable, versioned, and business-readable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Makes It a Template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configurable dimensions - deploy once, reuse everywhere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CSV, APIs — any source plugs in via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43200" cy="73152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checks in a table — no code changes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743200" cy="73152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🎚️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acceptable limits per column and dataset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43200" cy="73152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sensitivity of AI detection per use case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54680" y="2834640"/>
            <a:ext cx="2743200" cy="73152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9184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pipeline frequency independently per source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35040" y="2834640"/>
            <a:ext cx="2743200" cy="73152"/>
          </a:xfrm>
          <a:prstGeom prst="rect">
            <a:avLst/>
          </a:prstGeom>
          <a:solidFill>
            <a:srgbClr val="0D7B6A"/>
          </a:solidFill>
          <a:ln w="12700">
            <a:solidFill>
              <a:srgbClr val="0D7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7220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targets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alerts to Power BI, API, email, or Teams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Fabric Implementation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Fabric components to be built in the accelerator workspace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783080"/>
          </a:xfrm>
          <a:prstGeom prst="rect">
            <a:avLst/>
          </a:prstGeom>
          <a:solidFill>
            <a:srgbClr val="EBF2FC"/>
          </a:solidFill>
          <a:ln w="12700">
            <a:solidFill>
              <a:srgbClr val="1A3F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Enterprise_Data_Observability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Fabric workspace for all accelerator assets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4023360" cy="1783080"/>
          </a:xfrm>
          <a:prstGeom prst="rect">
            <a:avLst/>
          </a:prstGeom>
          <a:solidFill>
            <a:srgbClr val="E6F5F0"/>
          </a:solidFill>
          <a:ln w="12700">
            <a:solidFill>
              <a:srgbClr val="0A5C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84048" cy="384048"/>
          </a:xfrm>
          <a:prstGeom prst="ellipse">
            <a:avLst/>
          </a:prstGeom>
          <a:solidFill>
            <a:srgbClr val="0A5C4A"/>
          </a:solidFill>
          <a:ln w="12700">
            <a:solidFill>
              <a:srgbClr val="0A5C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EDO_Lakehouse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zones with Delta Lake format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023360" cy="1783080"/>
          </a:xfrm>
          <a:prstGeom prst="rect">
            <a:avLst/>
          </a:prstGeom>
          <a:solidFill>
            <a:srgbClr val="FFF8E6"/>
          </a:solidFill>
          <a:ln w="12700">
            <a:solidFill>
              <a:srgbClr val="8A5A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Enterprise_Ingestion_Pipeline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orchestration from all source systems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971800"/>
            <a:ext cx="4023360" cy="1783080"/>
          </a:xfrm>
          <a:prstGeom prst="rect">
            <a:avLst/>
          </a:prstGeom>
          <a:solidFill>
            <a:srgbClr val="F0ECF8"/>
          </a:solidFill>
          <a:ln w="12700">
            <a:solidFill>
              <a:srgbClr val="4A2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84048" cy="384048"/>
          </a:xfrm>
          <a:prstGeom prst="ellipse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AI_Observability_Engine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3931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+ ML validation and anomaly detection logic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731</Words>
  <Application>Microsoft Office PowerPoint</Application>
  <PresentationFormat>On-screen Show (16:9)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Observability Accelerator</dc:title>
  <dc:subject>PptxGenJS Presentation</dc:subject>
  <dc:creator>PptxGenJS</dc:creator>
  <cp:lastModifiedBy>Arghyadeep Paul</cp:lastModifiedBy>
  <cp:revision>3</cp:revision>
  <dcterms:created xsi:type="dcterms:W3CDTF">2026-05-19T07:10:22Z</dcterms:created>
  <dcterms:modified xsi:type="dcterms:W3CDTF">2026-05-19T09:22:13Z</dcterms:modified>
</cp:coreProperties>
</file>