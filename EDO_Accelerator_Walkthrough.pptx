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261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0" y="-731520"/>
            <a:ext cx="4114800" cy="4114800"/>
          </a:xfrm>
          <a:prstGeom prst="ellipse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0" y="2286000"/>
            <a:ext cx="2743200" cy="2743200"/>
          </a:xfrm>
          <a:prstGeom prst="ellipse">
            <a:avLst/>
          </a:prstGeom>
          <a:solidFill>
            <a:srgbClr val="00BCD4">
              <a:alpha val="20000"/>
            </a:srgbClr>
          </a:solidFill>
          <a:ln w="12700">
            <a:solidFill>
              <a:srgbClr val="00BC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EDO Accelerator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USE — STEP BY STEP WALKTHROUGH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109728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Data Observability on Microsoft Fabric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by Arghyadeep Paul | Embee Software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1A2E45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Bronze → Silver → Gold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17520" y="3200400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1A2E45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01752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Pipeline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77840" y="3200400"/>
            <a:ext cx="2377440" cy="365760"/>
          </a:xfrm>
          <a:prstGeom prst="roundRect">
            <a:avLst>
              <a:gd name="adj" fmla="val 12500"/>
            </a:avLst>
          </a:prstGeom>
          <a:solidFill>
            <a:srgbClr val="1A2E45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57784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Dashboard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Walkthrough Covers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274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606040" cy="1280160"/>
          </a:xfrm>
          <a:prstGeom prst="rect">
            <a:avLst/>
          </a:prstGeom>
          <a:solidFill>
            <a:srgbClr val="1A2E45"/>
          </a:solidFill>
          <a:ln w="12700">
            <a:solidFill>
              <a:srgbClr val="00BCD4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60604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39903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a dataset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70992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your Excel file to Lakehouse Files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606040" cy="1280160"/>
          </a:xfrm>
          <a:prstGeom prst="rect">
            <a:avLst/>
          </a:prstGeom>
          <a:solidFill>
            <a:srgbClr val="1A2E45"/>
          </a:solidFill>
          <a:ln w="12700">
            <a:solidFill>
              <a:srgbClr val="00BCD4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00400" y="1051560"/>
            <a:ext cx="260604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0" y="105156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91840" y="139903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 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170992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cell in Bronze to Silver notebook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051560"/>
            <a:ext cx="2606040" cy="1280160"/>
          </a:xfrm>
          <a:prstGeom prst="rect">
            <a:avLst/>
          </a:prstGeom>
          <a:solidFill>
            <a:srgbClr val="1A2E45"/>
          </a:solidFill>
          <a:ln w="12700">
            <a:solidFill>
              <a:srgbClr val="00BCD4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35040" y="1051560"/>
            <a:ext cx="260604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035040" y="105156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26480" y="139903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the pipeline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170992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processes automatically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560320"/>
            <a:ext cx="2606040" cy="1280160"/>
          </a:xfrm>
          <a:prstGeom prst="rect">
            <a:avLst/>
          </a:prstGeom>
          <a:solidFill>
            <a:srgbClr val="1A2E45"/>
          </a:solidFill>
          <a:ln w="12700">
            <a:solidFill>
              <a:srgbClr val="00BCD4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65760" y="2560320"/>
            <a:ext cx="260604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65760" y="256032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290779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the dashboard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21868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your dataset in Power BI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2560320"/>
            <a:ext cx="2606040" cy="1280160"/>
          </a:xfrm>
          <a:prstGeom prst="rect">
            <a:avLst/>
          </a:prstGeom>
          <a:solidFill>
            <a:srgbClr val="1A2E45"/>
          </a:solidFill>
          <a:ln w="12700">
            <a:solidFill>
              <a:srgbClr val="00BCD4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200400" y="2560320"/>
            <a:ext cx="260604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00400" y="2560320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91840" y="290779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more datasets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91840" y="321868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Repeat steps 1–3 for any new file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Your Dataset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229600" cy="274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8229600" cy="640080"/>
          </a:xfrm>
          <a:prstGeom prst="rect">
            <a:avLst/>
          </a:prstGeom>
          <a:solidFill>
            <a:srgbClr val="1A2E45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BC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📁  Sales_Intelligence_LH  →  Files  →  Drop your .xlsx here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do it: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2860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Open your workspace in Microsoft Fabric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Click Sales_Intelligence_LH (Lakehouse)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Click the Files folder on the left panel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Drag and drop your Excel file in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File name must match exactly (no spaces in name)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965960"/>
            <a:ext cx="4114800" cy="2651760"/>
          </a:xfrm>
          <a:prstGeom prst="roundRect">
            <a:avLst>
              <a:gd name="adj" fmla="val 2069"/>
            </a:avLst>
          </a:prstGeom>
          <a:solidFill>
            <a:srgbClr val="1A2E45"/>
          </a:solidFill>
          <a:ln w="12700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54880" y="1965960"/>
            <a:ext cx="4114800" cy="320040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54880" y="1965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  NAMING RULE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2359152"/>
            <a:ext cx="3840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name = DATASET_NAME you use in notebook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C8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Retail_Observability_Intelligence.xlsx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0C8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→ DATASET_NAME = "Retail_Observability_Intelligence"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retail data final v2.xlsx  ← avoid spaces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C8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 the Dataset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229600" cy="2743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Bronze to Silver notebook → go to Cell 2 → update these 2 lines only: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8321040" cy="118872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81381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── ONLY CHANGE THESE 2 LINES ───────────────────────────────
</a:t>
            </a:r>
            <a:r>
              <a:rPr lang="en-US" sz="105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NEW_DATASET  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050" dirty="0">
                <a:solidFill>
                  <a:srgbClr val="FFD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"HR_Data"</a:t>
            </a:r>
            <a:r>
              <a:rPr lang="en-US" sz="105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# ← exact filename without .xlsx
</a:t>
            </a:r>
            <a:r>
              <a:rPr lang="en-US" sz="1050" dirty="0">
                <a:solidFill>
                  <a:srgbClr val="00BC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NEW_CATEGORY </a:t>
            </a: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050" dirty="0">
                <a:solidFill>
                  <a:srgbClr val="FFD6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"HR"</a:t>
            </a:r>
            <a:r>
              <a:rPr lang="en-US" sz="105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# ← category label for dashboard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788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Then run Cell 2 once → dataset is registered in dataset_registry table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200400"/>
            <a:ext cx="2651760" cy="1508760"/>
          </a:xfrm>
          <a:prstGeom prst="rect">
            <a:avLst/>
          </a:prstGeom>
          <a:solidFill>
            <a:srgbClr val="1A2E45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3291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37947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Cell 2 once per new dataset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3200400"/>
            <a:ext cx="2651760" cy="1508760"/>
          </a:xfrm>
          <a:prstGeom prst="rect">
            <a:avLst/>
          </a:prstGeom>
          <a:solidFill>
            <a:srgbClr val="1A2E45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00400" y="3291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⏭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91840" y="37947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Skip Cell 2 on normal runs — don't touch it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3200400"/>
            <a:ext cx="2651760" cy="1508760"/>
          </a:xfrm>
          <a:prstGeom prst="rect">
            <a:avLst/>
          </a:prstGeom>
          <a:solidFill>
            <a:srgbClr val="1A2E45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35040" y="3291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26480" y="37947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dataset_registry table to verify it's added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the Pipeline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229600" cy="27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happens inside the pipeline (runs sequentially per dataset):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1A2E45"/>
          </a:solidFill>
          <a:ln w="12700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Bronze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6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Silver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0" y="1737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91840" y="150876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1A2E45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91840" y="15087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Silver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D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Gold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60720" y="1737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26480" y="1508760"/>
            <a:ext cx="2468880" cy="822960"/>
          </a:xfrm>
          <a:prstGeom prst="roundRect">
            <a:avLst>
              <a:gd name="adj" fmla="val 8889"/>
            </a:avLst>
          </a:prstGeom>
          <a:solidFill>
            <a:srgbClr val="1A2E45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126480" y="15087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run: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278892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Go to EDO_Observability_Pipeline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Click Run in the top toolbar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Watch all activities turn green ✅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Done — gold tables are updated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423160"/>
            <a:ext cx="4114800" cy="2011680"/>
          </a:xfrm>
          <a:prstGeom prst="roundRect">
            <a:avLst>
              <a:gd name="adj" fmla="val 2727"/>
            </a:avLst>
          </a:prstGeom>
          <a:solidFill>
            <a:srgbClr val="1A2E45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46320" y="2514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⏰  Auto-Schedule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88036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runs daily at 7:00 AM IST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refreshes at 7:30 AM IST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manual action needed after setup.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D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the Dashboard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229600" cy="27432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EDO Observability Dashboard → pick your dataset from the slicer → all visuals update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1828800" cy="914400"/>
          </a:xfrm>
          <a:prstGeom prst="rect">
            <a:avLst/>
          </a:prstGeom>
          <a:solidFill>
            <a:srgbClr val="1A2E45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182880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6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SLICER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148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0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one dataset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377440" y="1554480"/>
            <a:ext cx="1828800" cy="914400"/>
          </a:xfrm>
          <a:prstGeom prst="rect">
            <a:avLst/>
          </a:prstGeom>
          <a:solidFill>
            <a:srgbClr val="1A2E45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377440" y="1554480"/>
            <a:ext cx="1828800" cy="25603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37744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SEVERITY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23160" y="2148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0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/ HIGH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0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 / HEALTHY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389120" y="1554480"/>
            <a:ext cx="1828800" cy="914400"/>
          </a:xfrm>
          <a:prstGeom prst="rect">
            <a:avLst/>
          </a:prstGeom>
          <a:solidFill>
            <a:srgbClr val="1A2E45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389120" y="1554480"/>
            <a:ext cx="1828800" cy="2560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38912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 vs FAIL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DONUT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434840" y="2148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0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 pass rate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400800" y="1554480"/>
            <a:ext cx="2377440" cy="914400"/>
          </a:xfrm>
          <a:prstGeom prst="rect">
            <a:avLst/>
          </a:prstGeom>
          <a:solidFill>
            <a:srgbClr val="1A2E45"/>
          </a:solidFill>
          <a:ln w="12700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400800" y="1554480"/>
            <a:ext cx="2377440" cy="256032"/>
          </a:xfrm>
          <a:prstGeom prst="rect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00800" y="1828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 %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4652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0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% rules failed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65760" y="2651760"/>
            <a:ext cx="3657600" cy="1280160"/>
          </a:xfrm>
          <a:prstGeom prst="rect">
            <a:avLst/>
          </a:prstGeom>
          <a:solidFill>
            <a:srgbClr val="1A2E45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65760" y="2651760"/>
            <a:ext cx="365760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65760" y="29260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COLUMNS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FAILING MOST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(Bar Chart)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1480" y="3611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0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columns have issues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206240" y="2651760"/>
            <a:ext cx="4572000" cy="1280160"/>
          </a:xfrm>
          <a:prstGeom prst="rect">
            <a:avLst/>
          </a:prstGeom>
          <a:solidFill>
            <a:srgbClr val="1A2E45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206240" y="2651760"/>
            <a:ext cx="4572000" cy="25603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206240" y="29260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TREND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 TIME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(Line Chart)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51960" y="36118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0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fail_pct by date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65760" y="4069080"/>
            <a:ext cx="8412480" cy="457200"/>
          </a:xfrm>
          <a:prstGeom prst="rect">
            <a:avLst/>
          </a:prstGeom>
          <a:solidFill>
            <a:srgbClr val="1A2E45"/>
          </a:solidFill>
          <a:ln w="127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65760" y="40690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Full Detail Table — target_table | column_name | validation_type | status | detail | severity | evaluated_at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Adding More Datasets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229600" cy="274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onboard any new dataset — 3 steps, that's it: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2651760" cy="2468880"/>
          </a:xfrm>
          <a:prstGeom prst="rect">
            <a:avLst/>
          </a:prstGeom>
          <a:solidFill>
            <a:srgbClr val="1A2E45"/>
          </a:solidFill>
          <a:ln w="12700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234440" y="1691640"/>
            <a:ext cx="822960" cy="822960"/>
          </a:xfrm>
          <a:prstGeom prst="ellipse">
            <a:avLst/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234440" y="1691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Excel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 the .xlsx file into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Sales_Intelligence_LH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Files folder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508760"/>
            <a:ext cx="2651760" cy="2468880"/>
          </a:xfrm>
          <a:prstGeom prst="rect">
            <a:avLst/>
          </a:prstGeom>
          <a:solidFill>
            <a:srgbClr val="1A2E45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069080" y="1691640"/>
            <a:ext cx="822960" cy="822960"/>
          </a:xfrm>
          <a:prstGeom prst="ellipse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069080" y="1691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91840" y="2606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 in Cell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3017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NEW_DATASET = "YourFile"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NEW_CATEGORY = "Category"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Cell 2 once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1508760"/>
            <a:ext cx="2651760" cy="2468880"/>
          </a:xfrm>
          <a:prstGeom prst="rect">
            <a:avLst/>
          </a:prstGeom>
          <a:solidFill>
            <a:srgbClr val="1A2E45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903720" y="1691640"/>
            <a:ext cx="822960" cy="82296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903720" y="1691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126480" y="2606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Pipeline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26480" y="3017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 to EDO_Observability_Pipeline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Run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Done — appears in dashboard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11480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0A3020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C8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Cells 3–6 of Bronze to Silver, all of Silver to Gold, and EDO Validation Engine — NEVER change. Zero code. Same engine.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Reference Cheat Sheet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229600" cy="274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200400" cy="438912"/>
          </a:xfrm>
          <a:prstGeom prst="rect">
            <a:avLst/>
          </a:prstGeom>
          <a:solidFill>
            <a:srgbClr val="1A2E45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566160" y="914400"/>
            <a:ext cx="5212080" cy="438912"/>
          </a:xfrm>
          <a:prstGeom prst="rect">
            <a:avLst/>
          </a:prstGeom>
          <a:solidFill>
            <a:srgbClr val="0D1117"/>
          </a:solidFill>
          <a:ln w="127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on existing datasets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0" y="91440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Just run EDO_Observability_Pipeline — nothing else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408176"/>
            <a:ext cx="3200400" cy="438912"/>
          </a:xfrm>
          <a:prstGeom prst="rect">
            <a:avLst/>
          </a:prstGeom>
          <a:solidFill>
            <a:srgbClr val="1A2E45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566160" y="1408176"/>
            <a:ext cx="5212080" cy="438912"/>
          </a:xfrm>
          <a:prstGeom prst="rect">
            <a:avLst/>
          </a:prstGeom>
          <a:solidFill>
            <a:srgbClr val="0D1117"/>
          </a:solidFill>
          <a:ln w="127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1408176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a new dataset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0" y="1408176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Excel → Bronze to Silver Cell 2 → Run pipeline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901952"/>
            <a:ext cx="3200400" cy="438912"/>
          </a:xfrm>
          <a:prstGeom prst="rect">
            <a:avLst/>
          </a:prstGeom>
          <a:solidFill>
            <a:srgbClr val="1A2E45"/>
          </a:solidFill>
          <a:ln w="12700">
            <a:solidFill>
              <a:srgbClr val="FFD6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566160" y="1901952"/>
            <a:ext cx="5212080" cy="438912"/>
          </a:xfrm>
          <a:prstGeom prst="rect">
            <a:avLst/>
          </a:prstGeom>
          <a:solidFill>
            <a:srgbClr val="0D1117"/>
          </a:solidFill>
          <a:ln w="127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57200" y="1901952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Disable a dataset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0" y="1901952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active = False in dataset_registry table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395728"/>
            <a:ext cx="3200400" cy="438912"/>
          </a:xfrm>
          <a:prstGeom prst="rect">
            <a:avLst/>
          </a:prstGeom>
          <a:solidFill>
            <a:srgbClr val="1A2E45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566160" y="2395728"/>
            <a:ext cx="5212080" cy="438912"/>
          </a:xfrm>
          <a:prstGeom prst="rect">
            <a:avLst/>
          </a:prstGeom>
          <a:solidFill>
            <a:srgbClr val="0D1117"/>
          </a:solidFill>
          <a:ln w="127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57200" y="2395728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all historical runs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0" y="2395728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gold_observability_log in Sales_Intelligence_LH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889504"/>
            <a:ext cx="3200400" cy="438912"/>
          </a:xfrm>
          <a:prstGeom prst="rect">
            <a:avLst/>
          </a:prstGeom>
          <a:solidFill>
            <a:srgbClr val="1A2E45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566160" y="2889504"/>
            <a:ext cx="5212080" cy="438912"/>
          </a:xfrm>
          <a:prstGeom prst="rect">
            <a:avLst/>
          </a:prstGeom>
          <a:solidFill>
            <a:srgbClr val="0D1117"/>
          </a:solidFill>
          <a:ln w="127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7200" y="2889504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dashboard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0" y="2889504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EDO Observability Dashboard → select dataset in slicer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383280"/>
            <a:ext cx="3200400" cy="438912"/>
          </a:xfrm>
          <a:prstGeom prst="rect">
            <a:avLst/>
          </a:prstGeom>
          <a:solidFill>
            <a:srgbClr val="1A2E45"/>
          </a:solidFill>
          <a:ln w="12700">
            <a:solidFill>
              <a:srgbClr val="FF6F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566160" y="3383280"/>
            <a:ext cx="5212080" cy="438912"/>
          </a:xfrm>
          <a:prstGeom prst="rect">
            <a:avLst/>
          </a:prstGeom>
          <a:solidFill>
            <a:srgbClr val="0D1117"/>
          </a:solidFill>
          <a:ln w="127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57200" y="3383280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 history before demo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0" y="338328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spark.sql("TRUNCATE TABLE gold_observability_log") — then re-run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877056"/>
            <a:ext cx="3200400" cy="438912"/>
          </a:xfrm>
          <a:prstGeom prst="rect">
            <a:avLst/>
          </a:prstGeom>
          <a:solidFill>
            <a:srgbClr val="1A2E45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566160" y="3877056"/>
            <a:ext cx="5212080" cy="438912"/>
          </a:xfrm>
          <a:prstGeom prst="rect">
            <a:avLst/>
          </a:prstGeom>
          <a:solidFill>
            <a:srgbClr val="0D1117"/>
          </a:solidFill>
          <a:ln w="127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57200" y="3877056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schedule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0" y="3877056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at 7:00 AM IST — auto runs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370832"/>
            <a:ext cx="3200400" cy="438912"/>
          </a:xfrm>
          <a:prstGeom prst="rect">
            <a:avLst/>
          </a:prstGeom>
          <a:solidFill>
            <a:srgbClr val="1A2E45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566160" y="4370832"/>
            <a:ext cx="5212080" cy="438912"/>
          </a:xfrm>
          <a:prstGeom prst="rect">
            <a:avLst/>
          </a:prstGeom>
          <a:solidFill>
            <a:srgbClr val="0D1117"/>
          </a:solidFill>
          <a:ln w="12700">
            <a:solidFill>
              <a:srgbClr val="90A4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57200" y="4370832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refresh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0" y="4370832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Daily at 7:30 AM IST — auto refreshes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32F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  Things to NEVER Do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229600" cy="2743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713232"/>
          </a:xfrm>
          <a:prstGeom prst="rect">
            <a:avLst/>
          </a:prstGeom>
          <a:solidFill>
            <a:srgbClr val="1A2E45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320040" cy="71323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320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996696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32F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DON'T: Run Cell 2 of Bronze to Silver every time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130759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Why: It appends to dataset_registry — you'll get duplicate entries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746504"/>
            <a:ext cx="8412480" cy="713232"/>
          </a:xfrm>
          <a:prstGeom prst="rect">
            <a:avLst/>
          </a:prstGeom>
          <a:solidFill>
            <a:srgbClr val="1A2E45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65760" y="1746504"/>
            <a:ext cx="320040" cy="71323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5760" y="1746504"/>
            <a:ext cx="320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178308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32F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DON'T: Change any cell in Bronze to Silver except Cell 1 and Cell 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2093976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Why: The engine cells are frozen by design — editing breaks the accelerator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532888"/>
            <a:ext cx="8412480" cy="713232"/>
          </a:xfrm>
          <a:prstGeom prst="rect">
            <a:avLst/>
          </a:prstGeom>
          <a:solidFill>
            <a:srgbClr val="1A2E45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65760" y="2532888"/>
            <a:ext cx="320040" cy="71323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65760" y="2532888"/>
            <a:ext cx="320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2569464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32F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DON'T: Truncate gold_observability_log without a plan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7240" y="288036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Why: All monitoring history is lost — only do this before a clean demo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319272"/>
            <a:ext cx="8412480" cy="713232"/>
          </a:xfrm>
          <a:prstGeom prst="rect">
            <a:avLst/>
          </a:prstGeom>
          <a:solidFill>
            <a:srgbClr val="1A2E45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65760" y="3319272"/>
            <a:ext cx="320040" cy="71323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65760" y="3319272"/>
            <a:ext cx="320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335584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32F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DON'T: Run both datasets in parallel (non-sequential ForEach)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7240" y="3666744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Why: Causes ConcurrentAppendException — tables collide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105656"/>
            <a:ext cx="8412480" cy="713232"/>
          </a:xfrm>
          <a:prstGeom prst="rect">
            <a:avLst/>
          </a:prstGeom>
          <a:solidFill>
            <a:srgbClr val="1A2E45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65760" y="4105656"/>
            <a:ext cx="320040" cy="71323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65760" y="4105656"/>
            <a:ext cx="320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7240" y="41422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32F2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DON'T: Use spaces in Excel filenames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77240" y="445312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Why: Breaks the auto file path generation in Bronze to Silver Cell 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0A4AE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0BCD4">
              <a:alpha val="20000"/>
            </a:srgbClr>
          </a:solidFill>
          <a:ln w="12700">
            <a:solidFill>
              <a:srgbClr val="00BC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10972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You're Ready.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kern="0" spc="2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→ Register → Run → Monitor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0" y="2514600"/>
            <a:ext cx="365760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3F2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&amp; maintained by  </a:t>
            </a:r>
            <a:r>
              <a:rPr lang="en-US" sz="13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Arghyadeep Paul &amp; Rajesh Mondal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Analytics &amp; AI  |  Embee Software Pvt Ltd  |  June 2026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888</Words>
  <Application>Microsoft Office PowerPoint</Application>
  <PresentationFormat>On-screen Show (16:9)</PresentationFormat>
  <Paragraphs>170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Courier New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EDO Accelerator — How to Use</dc:title>
  <dc:subject>PptxGenJS Presentation</dc:subject>
  <dc:creator>PptxGenJS</dc:creator>
  <cp:lastModifiedBy>Arghyadeep Paul</cp:lastModifiedBy>
  <cp:revision>2</cp:revision>
  <dcterms:created xsi:type="dcterms:W3CDTF">2026-06-01T11:40:33Z</dcterms:created>
  <dcterms:modified xsi:type="dcterms:W3CDTF">2026-06-03T09:47:49Z</dcterms:modified>
</cp:coreProperties>
</file>